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946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wer band"/>
          <p:cNvSpPr/>
          <p:nvPr/>
        </p:nvSpPr>
        <p:spPr>
          <a:xfrm>
            <a:off x="0" y="4160520"/>
            <a:ext cx="12192000" cy="2697480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SIMATS header banner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517156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640080" y="1737360"/>
            <a:ext cx="10908792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Security Attacks, Threats, Risks and Their Impact on Security Goals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40080" y="3520440"/>
            <a:ext cx="1090879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1">
                <a:solidFill>
                  <a:srgbClr val="E2913C"/>
                </a:solidFill>
                <a:latin typeface="Calibri"/>
                <a:ea typeface="Calibri"/>
                <a:cs typeface="Calibri"/>
              </a:rPr>
              <a:t>Technical Presentation</a:t>
            </a:r>
          </a:p>
        </p:txBody>
      </p:sp>
      <p:sp>
        <p:nvSpPr>
          <p:cNvPr id="6" name="Presenter label"/>
          <p:cNvSpPr txBox="1"/>
          <p:nvPr/>
        </p:nvSpPr>
        <p:spPr>
          <a:xfrm>
            <a:off x="640080" y="443484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 spc="200">
                <a:solidFill>
                  <a:srgbClr val="E2913C"/>
                </a:solidFill>
                <a:latin typeface="Calibri"/>
                <a:ea typeface="Calibri"/>
                <a:cs typeface="Calibri"/>
              </a:rPr>
              <a:t>PRESENTED BY</a:t>
            </a:r>
          </a:p>
        </p:txBody>
      </p:sp>
      <p:sp>
        <p:nvSpPr>
          <p:cNvPr id="7" name="Presenter"/>
          <p:cNvSpPr txBox="1"/>
          <p:nvPr/>
        </p:nvSpPr>
        <p:spPr>
          <a:xfrm>
            <a:off x="640080" y="4800600"/>
            <a:ext cx="667512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buSzPct val="100000"/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Dubba Naveen  —  192372177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IMATS Engineering banner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305" y="102843"/>
            <a:ext cx="4724809" cy="617273"/>
          </a:xfrm>
          <a:prstGeom prst="rect">
            <a:avLst/>
          </a:prstGeom>
        </p:spPr>
      </p:pic>
      <p:pic>
        <p:nvPicPr>
          <p:cNvPr id="3" name="SIMATS logo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43" y="16719"/>
            <a:ext cx="1044030" cy="1036410"/>
          </a:xfrm>
          <a:prstGeom prst="rect">
            <a:avLst/>
          </a:prstGeom>
        </p:spPr>
      </p:pic>
      <p:sp>
        <p:nvSpPr>
          <p:cNvPr id="4" name="Section tag"/>
          <p:cNvSpPr txBox="1"/>
          <p:nvPr/>
        </p:nvSpPr>
        <p:spPr>
          <a:xfrm>
            <a:off x="8988552" y="201168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 spc="2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TECHNICAL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48640" y="1100000"/>
            <a:ext cx="11091672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Security Goals: The CIA Triad</a:t>
            </a:r>
          </a:p>
        </p:txBody>
      </p:sp>
      <p:sp>
        <p:nvSpPr>
          <p:cNvPr id="7" name="Confidentiality title"/>
          <p:cNvSpPr/>
          <p:nvPr/>
        </p:nvSpPr>
        <p:spPr>
          <a:xfrm>
            <a:off x="640080" y="2000000"/>
            <a:ext cx="3436264" cy="800000"/>
          </a:xfrm>
          <a:prstGeom prst="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Confidentiality</a:t>
            </a:r>
          </a:p>
        </p:txBody>
      </p:sp>
      <p:sp>
        <p:nvSpPr>
          <p:cNvPr id="8" name="Confidentiality text"/>
          <p:cNvSpPr/>
          <p:nvPr/>
        </p:nvSpPr>
        <p:spPr>
          <a:xfrm>
            <a:off x="640080" y="2800000"/>
            <a:ext cx="3436264" cy="180000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200000"/>
          <a:lstStyle/>
          <a:p>
            <a:pPr algn="ctr"/>
            <a:r>
              <a:rPr sz="18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Only authorized users can access information.</a:t>
            </a:r>
          </a:p>
        </p:txBody>
      </p:sp>
      <p:sp>
        <p:nvSpPr>
          <p:cNvPr id="9" name="Integrity title"/>
          <p:cNvSpPr/>
          <p:nvPr/>
        </p:nvSpPr>
        <p:spPr>
          <a:xfrm>
            <a:off x="4376344" y="2000000"/>
            <a:ext cx="3436264" cy="80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Integrity</a:t>
            </a:r>
          </a:p>
        </p:txBody>
      </p:sp>
      <p:sp>
        <p:nvSpPr>
          <p:cNvPr id="10" name="Integrity text"/>
          <p:cNvSpPr/>
          <p:nvPr/>
        </p:nvSpPr>
        <p:spPr>
          <a:xfrm>
            <a:off x="4376344" y="2800000"/>
            <a:ext cx="3436264" cy="180000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200000"/>
          <a:lstStyle/>
          <a:p>
            <a:pPr algn="ctr"/>
            <a:r>
              <a:rPr sz="18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Data stays accurate and is not altered without permission.</a:t>
            </a:r>
          </a:p>
        </p:txBody>
      </p:sp>
      <p:sp>
        <p:nvSpPr>
          <p:cNvPr id="11" name="Availability title"/>
          <p:cNvSpPr/>
          <p:nvPr/>
        </p:nvSpPr>
        <p:spPr>
          <a:xfrm>
            <a:off x="8112608" y="2000000"/>
            <a:ext cx="3436264" cy="8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Availability</a:t>
            </a:r>
          </a:p>
        </p:txBody>
      </p:sp>
      <p:sp>
        <p:nvSpPr>
          <p:cNvPr id="12" name="Availability text"/>
          <p:cNvSpPr/>
          <p:nvPr/>
        </p:nvSpPr>
        <p:spPr>
          <a:xfrm>
            <a:off x="8112608" y="2800000"/>
            <a:ext cx="3436264" cy="180000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200000"/>
          <a:lstStyle/>
          <a:p>
            <a:pPr algn="ctr"/>
            <a:r>
              <a:rPr sz="18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Systems and data are accessible when needed.</a:t>
            </a:r>
          </a:p>
        </p:txBody>
      </p:sp>
      <p:sp>
        <p:nvSpPr>
          <p:cNvPr id="13" name="Related goals"/>
          <p:cNvSpPr/>
          <p:nvPr/>
        </p:nvSpPr>
        <p:spPr>
          <a:xfrm>
            <a:off x="640080" y="5000000"/>
            <a:ext cx="10908792" cy="7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Related goals: Authentication, Non-repudiation, Accountability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IMATS Engineering banner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305" y="102843"/>
            <a:ext cx="4724809" cy="617273"/>
          </a:xfrm>
          <a:prstGeom prst="rect">
            <a:avLst/>
          </a:prstGeom>
        </p:spPr>
      </p:pic>
      <p:pic>
        <p:nvPicPr>
          <p:cNvPr id="3" name="SIMATS logo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43" y="16719"/>
            <a:ext cx="1044030" cy="1036410"/>
          </a:xfrm>
          <a:prstGeom prst="rect">
            <a:avLst/>
          </a:prstGeom>
        </p:spPr>
      </p:pic>
      <p:sp>
        <p:nvSpPr>
          <p:cNvPr id="4" name="Section tag"/>
          <p:cNvSpPr txBox="1"/>
          <p:nvPr/>
        </p:nvSpPr>
        <p:spPr>
          <a:xfrm>
            <a:off x="8988552" y="201168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 spc="2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TECHNICAL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48640" y="1100000"/>
            <a:ext cx="11091672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Threat vs. Vulnerability vs. Risk</a:t>
            </a:r>
          </a:p>
        </p:txBody>
      </p:sp>
      <p:sp>
        <p:nvSpPr>
          <p:cNvPr id="7" name="Threat name"/>
          <p:cNvSpPr/>
          <p:nvPr/>
        </p:nvSpPr>
        <p:spPr>
          <a:xfrm>
            <a:off x="640080" y="1950000"/>
            <a:ext cx="2600000" cy="12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Threat</a:t>
            </a:r>
          </a:p>
        </p:txBody>
      </p:sp>
      <p:sp>
        <p:nvSpPr>
          <p:cNvPr id="8" name="Threat text"/>
          <p:cNvSpPr/>
          <p:nvPr/>
        </p:nvSpPr>
        <p:spPr>
          <a:xfrm>
            <a:off x="3240080" y="1950000"/>
            <a:ext cx="8308792" cy="120000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A potential event or actor that can cause harm.</a:t>
            </a:r>
          </a:p>
          <a:p>
            <a:pPr algn="l"/>
            <a:r>
              <a:rPr sz="1400" b="0" i="1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e.g. hacker, malware, insider</a:t>
            </a:r>
          </a:p>
        </p:txBody>
      </p:sp>
      <p:sp>
        <p:nvSpPr>
          <p:cNvPr id="9" name="Vulnerability name"/>
          <p:cNvSpPr/>
          <p:nvPr/>
        </p:nvSpPr>
        <p:spPr>
          <a:xfrm>
            <a:off x="640080" y="3400000"/>
            <a:ext cx="2600000" cy="120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Vulnerability</a:t>
            </a:r>
          </a:p>
        </p:txBody>
      </p:sp>
      <p:sp>
        <p:nvSpPr>
          <p:cNvPr id="10" name="Vulnerability text"/>
          <p:cNvSpPr/>
          <p:nvPr/>
        </p:nvSpPr>
        <p:spPr>
          <a:xfrm>
            <a:off x="3240080" y="3400000"/>
            <a:ext cx="8308792" cy="120000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A weakness that a threat can exploit.</a:t>
            </a:r>
          </a:p>
          <a:p>
            <a:pPr algn="l"/>
            <a:r>
              <a:rPr sz="1400" b="0" i="1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e.g. unpatched software, weak password</a:t>
            </a:r>
          </a:p>
        </p:txBody>
      </p:sp>
      <p:sp>
        <p:nvSpPr>
          <p:cNvPr id="11" name="Risk name"/>
          <p:cNvSpPr/>
          <p:nvPr/>
        </p:nvSpPr>
        <p:spPr>
          <a:xfrm>
            <a:off x="640080" y="4850000"/>
            <a:ext cx="2600000" cy="1200000"/>
          </a:xfrm>
          <a:prstGeom prst="rect">
            <a:avLst/>
          </a:prstGeom>
          <a:solidFill>
            <a:srgbClr val="8E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</a:t>
            </a:r>
          </a:p>
        </p:txBody>
      </p:sp>
      <p:sp>
        <p:nvSpPr>
          <p:cNvPr id="12" name="Risk text"/>
          <p:cNvSpPr/>
          <p:nvPr/>
        </p:nvSpPr>
        <p:spPr>
          <a:xfrm>
            <a:off x="3240080" y="4850000"/>
            <a:ext cx="8308792" cy="120000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Likelihood of a threat exploiting a vulnerability, times the impact.</a:t>
            </a:r>
          </a:p>
          <a:p>
            <a:pPr algn="l"/>
            <a:r>
              <a:rPr sz="1400" b="0" i="1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Risk = Threat x Vulnerability x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IMATS Engineering banner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305" y="102843"/>
            <a:ext cx="4724809" cy="617273"/>
          </a:xfrm>
          <a:prstGeom prst="rect">
            <a:avLst/>
          </a:prstGeom>
        </p:spPr>
      </p:pic>
      <p:pic>
        <p:nvPicPr>
          <p:cNvPr id="3" name="SIMATS logo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43" y="16719"/>
            <a:ext cx="1044030" cy="1036410"/>
          </a:xfrm>
          <a:prstGeom prst="rect">
            <a:avLst/>
          </a:prstGeom>
        </p:spPr>
      </p:pic>
      <p:sp>
        <p:nvSpPr>
          <p:cNvPr id="4" name="Section tag"/>
          <p:cNvSpPr txBox="1"/>
          <p:nvPr/>
        </p:nvSpPr>
        <p:spPr>
          <a:xfrm>
            <a:off x="8988552" y="201168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 spc="2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TECHNICAL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48640" y="1100000"/>
            <a:ext cx="11091672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Types of Security Attacks</a:t>
            </a:r>
          </a:p>
        </p:txBody>
      </p:sp>
      <p:sp>
        <p:nvSpPr>
          <p:cNvPr id="7" name="Passive Attacks title"/>
          <p:cNvSpPr/>
          <p:nvPr/>
        </p:nvSpPr>
        <p:spPr>
          <a:xfrm>
            <a:off x="640080" y="1950000"/>
            <a:ext cx="5254396" cy="6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000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Passive Attacks</a:t>
            </a:r>
          </a:p>
        </p:txBody>
      </p:sp>
      <p:sp>
        <p:nvSpPr>
          <p:cNvPr id="8" name="Passive Attacks content"/>
          <p:cNvSpPr/>
          <p:nvPr/>
        </p:nvSpPr>
        <p:spPr>
          <a:xfrm>
            <a:off x="640080" y="2550000"/>
            <a:ext cx="5254396" cy="300000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0000" rIns="250000" tIns="200000"/>
          <a:lstStyle/>
          <a:p>
            <a:pPr algn="l">
              <a:spcAft>
                <a:spcPts val="1400"/>
              </a:spcAft>
            </a:pPr>
            <a:r>
              <a:rPr sz="1500" b="0" i="1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Goal: observe or steal information without altering it</a:t>
            </a:r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sz="17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Eavesdropping / sniffing</a:t>
            </a:r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sz="17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Traffic analysis</a:t>
            </a:r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sz="17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Hard to detect, so focus on prevention</a:t>
            </a:r>
          </a:p>
        </p:txBody>
      </p:sp>
      <p:sp>
        <p:nvSpPr>
          <p:cNvPr id="9" name="Active Attacks title"/>
          <p:cNvSpPr/>
          <p:nvPr/>
        </p:nvSpPr>
        <p:spPr>
          <a:xfrm>
            <a:off x="6294476" y="1950000"/>
            <a:ext cx="5254396" cy="600000"/>
          </a:xfrm>
          <a:prstGeom prst="rect">
            <a:avLst/>
          </a:prstGeom>
          <a:solidFill>
            <a:srgbClr val="8E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000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Active Attacks</a:t>
            </a:r>
          </a:p>
        </p:txBody>
      </p:sp>
      <p:sp>
        <p:nvSpPr>
          <p:cNvPr id="10" name="Active Attacks content"/>
          <p:cNvSpPr/>
          <p:nvPr/>
        </p:nvSpPr>
        <p:spPr>
          <a:xfrm>
            <a:off x="6294476" y="2550000"/>
            <a:ext cx="5254396" cy="3000000"/>
          </a:xfrm>
          <a:prstGeom prst="rect">
            <a:avLst/>
          </a:prstGeom>
          <a:solidFill>
            <a:srgbClr val="F3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0000" rIns="250000" tIns="200000"/>
          <a:lstStyle/>
          <a:p>
            <a:pPr algn="l">
              <a:spcAft>
                <a:spcPts val="1400"/>
              </a:spcAft>
            </a:pPr>
            <a:r>
              <a:rPr sz="1500" b="0" i="1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Goal: modify, disrupt or fabricate data and services</a:t>
            </a:r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sz="17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Masquerading / spoofing</a:t>
            </a:r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sz="17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Replay and man-in-the-middle</a:t>
            </a:r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sz="17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Modification of messages</a:t>
            </a:r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sz="17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Denial of Service (DoS/DDoS)</a:t>
            </a:r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sz="1700" b="0" i="0">
                <a:solidFill>
                  <a:srgbClr val="26313F"/>
                </a:solidFill>
                <a:latin typeface="Calibri"/>
                <a:ea typeface="Calibri"/>
                <a:cs typeface="Calibri"/>
              </a:rPr>
              <a:t>Easy to detect, hard to prevent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IMATS Engineering banner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305" y="102843"/>
            <a:ext cx="4724809" cy="617273"/>
          </a:xfrm>
          <a:prstGeom prst="rect">
            <a:avLst/>
          </a:prstGeom>
        </p:spPr>
      </p:pic>
      <p:pic>
        <p:nvPicPr>
          <p:cNvPr id="3" name="SIMATS logo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43" y="16719"/>
            <a:ext cx="1044030" cy="1036410"/>
          </a:xfrm>
          <a:prstGeom prst="rect">
            <a:avLst/>
          </a:prstGeom>
        </p:spPr>
      </p:pic>
      <p:sp>
        <p:nvSpPr>
          <p:cNvPr id="4" name="Section tag"/>
          <p:cNvSpPr txBox="1"/>
          <p:nvPr/>
        </p:nvSpPr>
        <p:spPr>
          <a:xfrm>
            <a:off x="8988552" y="201168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 spc="2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TECHNICAL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48640" y="1100000"/>
            <a:ext cx="11091672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Impact of Attacks on Security Goals</a:t>
            </a:r>
          </a:p>
        </p:txBody>
      </p:sp>
      <p:graphicFrame>
        <p:nvGraphicFramePr>
          <p:cNvPr id="7" name="Impact table"/>
          <p:cNvGraphicFramePr>
            <a:graphicFrameLocks noGrp="1"/>
          </p:cNvGraphicFramePr>
          <p:nvPr/>
        </p:nvGraphicFramePr>
        <p:xfrm>
          <a:off x="548640" y="1950000"/>
          <a:ext cx="11094720" cy="3720000"/>
        </p:xfrm>
        <a:graphic>
          <a:graphicData uri="http://schemas.openxmlformats.org/drawingml/2006/table">
            <a:tbl>
              <a:tblPr firstRow="0" bandRow="0"/>
              <a:tblGrid>
                <a:gridCol w="3300000"/>
                <a:gridCol w="4700000"/>
                <a:gridCol w="3094720"/>
              </a:tblGrid>
              <a:tr h="62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Attack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Example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Goal Violated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</a:rPr>
                        <a:t>Snooping / Sniffing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6313F"/>
                          </a:solidFill>
                          <a:latin typeface="Calibri"/>
                          <a:ea typeface="Calibri"/>
                          <a:cs typeface="Calibri"/>
                        </a:rPr>
                        <a:t>Reading unencrypted traffic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8E3B46"/>
                          </a:solidFill>
                          <a:latin typeface="Calibri"/>
                          <a:ea typeface="Calibri"/>
                          <a:cs typeface="Calibri"/>
                        </a:rPr>
                        <a:t>Confidentiality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</a:rPr>
                        <a:t>Modification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6313F"/>
                          </a:solidFill>
                          <a:latin typeface="Calibri"/>
                          <a:ea typeface="Calibri"/>
                          <a:cs typeface="Calibri"/>
                        </a:rPr>
                        <a:t>Altering a bank transfer amount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8E3B46"/>
                          </a:solidFill>
                          <a:latin typeface="Calibri"/>
                          <a:ea typeface="Calibri"/>
                          <a:cs typeface="Calibri"/>
                        </a:rPr>
                        <a:t>Integrity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3F6F9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</a:rPr>
                        <a:t>Denial of Service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6313F"/>
                          </a:solidFill>
                          <a:latin typeface="Calibri"/>
                          <a:ea typeface="Calibri"/>
                          <a:cs typeface="Calibri"/>
                        </a:rPr>
                        <a:t>Flooding a server with requests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8E3B46"/>
                          </a:solidFill>
                          <a:latin typeface="Calibri"/>
                          <a:ea typeface="Calibri"/>
                          <a:cs typeface="Calibri"/>
                        </a:rPr>
                        <a:t>Availability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</a:rPr>
                        <a:t>Masquerading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6313F"/>
                          </a:solidFill>
                          <a:latin typeface="Calibri"/>
                          <a:ea typeface="Calibri"/>
                          <a:cs typeface="Calibri"/>
                        </a:rPr>
                        <a:t>Pretending to be a valid user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8E3B46"/>
                          </a:solidFill>
                          <a:latin typeface="Calibri"/>
                          <a:ea typeface="Calibri"/>
                          <a:cs typeface="Calibri"/>
                        </a:rPr>
                        <a:t>Authentication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3F6F9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</a:rPr>
                        <a:t>Repudiation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6313F"/>
                          </a:solidFill>
                          <a:latin typeface="Calibri"/>
                          <a:ea typeface="Calibri"/>
                          <a:cs typeface="Calibri"/>
                        </a:rPr>
                        <a:t>Denying a sent transaction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8E3B46"/>
                          </a:solidFill>
                          <a:latin typeface="Calibri"/>
                          <a:ea typeface="Calibri"/>
                          <a:cs typeface="Calibri"/>
                        </a:rPr>
                        <a:t>Non-repudiation</a:t>
                      </a:r>
                    </a:p>
                  </a:txBody>
                  <a:tcPr anchor="ctr" marL="150000">
                    <a:lnL w="9525">
                      <a:solidFill>
                        <a:srgbClr val="D8DEE6"/>
                      </a:solidFill>
                    </a:lnL>
                    <a:lnR w="9525">
                      <a:solidFill>
                        <a:srgbClr val="D8DEE6"/>
                      </a:solidFill>
                    </a:lnR>
                    <a:lnT w="9525">
                      <a:solidFill>
                        <a:srgbClr val="D8DEE6"/>
                      </a:solidFill>
                    </a:lnT>
                    <a:lnB w="9525">
                      <a:solidFill>
                        <a:srgbClr val="D8DE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IMATS Engineering banner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305" y="102843"/>
            <a:ext cx="4724809" cy="617273"/>
          </a:xfrm>
          <a:prstGeom prst="rect">
            <a:avLst/>
          </a:prstGeom>
        </p:spPr>
      </p:pic>
      <p:pic>
        <p:nvPicPr>
          <p:cNvPr id="3" name="SIMATS logo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43" y="16719"/>
            <a:ext cx="1044030" cy="1036410"/>
          </a:xfrm>
          <a:prstGeom prst="rect">
            <a:avLst/>
          </a:prstGeom>
        </p:spPr>
      </p:pic>
      <p:sp>
        <p:nvSpPr>
          <p:cNvPr id="4" name="Section tag"/>
          <p:cNvSpPr txBox="1"/>
          <p:nvPr/>
        </p:nvSpPr>
        <p:spPr>
          <a:xfrm>
            <a:off x="8988552" y="201168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 i="0" spc="20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TECHNICAL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48640" y="1100000"/>
            <a:ext cx="11091672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Georgia"/>
                <a:ea typeface="Georgia"/>
                <a:cs typeface="Georgia"/>
              </a:rPr>
              <a:t>Managing Risk: Countermeasures</a:t>
            </a:r>
          </a:p>
        </p:txBody>
      </p:sp>
      <p:sp>
        <p:nvSpPr>
          <p:cNvPr id="7" name="Prevent text"/>
          <p:cNvSpPr/>
          <p:nvPr/>
        </p:nvSpPr>
        <p:spPr>
          <a:xfrm>
            <a:off x="640080" y="1950000"/>
            <a:ext cx="5304396" cy="1900000"/>
          </a:xfrm>
          <a:prstGeom prst="roundRect">
            <a:avLst>
              <a:gd name="adj" fmla="val 6000"/>
            </a:avLst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300000"/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Prevent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Encryption, firewalls, strong authentication, patching</a:t>
            </a:r>
          </a:p>
        </p:txBody>
      </p:sp>
      <p:sp>
        <p:nvSpPr>
          <p:cNvPr id="8" name="Detect text"/>
          <p:cNvSpPr/>
          <p:nvPr/>
        </p:nvSpPr>
        <p:spPr>
          <a:xfrm>
            <a:off x="6244476" y="1950000"/>
            <a:ext cx="5304396" cy="1900000"/>
          </a:xfrm>
          <a:prstGeom prst="roundRect">
            <a:avLst>
              <a:gd name="adj" fmla="val 6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300000"/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Detect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IDS/IPS, logging, monitoring, audits</a:t>
            </a:r>
          </a:p>
        </p:txBody>
      </p:sp>
      <p:sp>
        <p:nvSpPr>
          <p:cNvPr id="9" name="Respond text"/>
          <p:cNvSpPr/>
          <p:nvPr/>
        </p:nvSpPr>
        <p:spPr>
          <a:xfrm>
            <a:off x="640080" y="4100000"/>
            <a:ext cx="5304396" cy="1900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300000"/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Respond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Incident response plan, backups, recovery</a:t>
            </a:r>
          </a:p>
        </p:txBody>
      </p:sp>
      <p:sp>
        <p:nvSpPr>
          <p:cNvPr id="10" name="Assess text"/>
          <p:cNvSpPr/>
          <p:nvPr/>
        </p:nvSpPr>
        <p:spPr>
          <a:xfrm>
            <a:off x="6244476" y="4100000"/>
            <a:ext cx="5304396" cy="1900000"/>
          </a:xfrm>
          <a:prstGeom prst="roundRect">
            <a:avLst>
              <a:gd name="adj" fmla="val 6000"/>
            </a:avLst>
          </a:prstGeom>
          <a:solidFill>
            <a:srgbClr val="8E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0" rIns="300000"/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Assess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Regular risk assessment and security awareness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IMATS header banner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517156"/>
          </a:xfrm>
          <a:prstGeom prst="rect">
            <a:avLst/>
          </a:prstGeom>
        </p:spPr>
      </p:pic>
      <p:sp>
        <p:nvSpPr>
          <p:cNvPr id="3" name="Lower band"/>
          <p:cNvSpPr/>
          <p:nvPr/>
        </p:nvSpPr>
        <p:spPr>
          <a:xfrm>
            <a:off x="0" y="4960000"/>
            <a:ext cx="12192000" cy="1898000"/>
          </a:xfrm>
          <a:prstGeom prst="rect">
            <a:avLst/>
          </a:prstGeom>
          <a:solidFill>
            <a:srgbClr val="12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1700000"/>
            <a:ext cx="10908792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Key Takeaways</a:t>
            </a:r>
          </a:p>
        </p:txBody>
      </p:sp>
      <p:sp>
        <p:nvSpPr>
          <p:cNvPr id="5" name="Number 1 text"/>
          <p:cNvSpPr/>
          <p:nvPr/>
        </p:nvSpPr>
        <p:spPr>
          <a:xfrm>
            <a:off x="640080" y="2600000"/>
            <a:ext cx="520000" cy="520000"/>
          </a:xfrm>
          <a:prstGeom prst="ellipse">
            <a:avLst/>
          </a:prstGeom>
          <a:solidFill>
            <a:srgbClr val="E29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6" name="Takeaway 1"/>
          <p:cNvSpPr txBox="1"/>
          <p:nvPr/>
        </p:nvSpPr>
        <p:spPr>
          <a:xfrm>
            <a:off x="1340080" y="2600000"/>
            <a:ext cx="10208792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Threats exploit vulnerabilities, and risk measures the resulting impact.</a:t>
            </a:r>
          </a:p>
        </p:txBody>
      </p:sp>
      <p:sp>
        <p:nvSpPr>
          <p:cNvPr id="7" name="Number 2 text"/>
          <p:cNvSpPr/>
          <p:nvPr/>
        </p:nvSpPr>
        <p:spPr>
          <a:xfrm>
            <a:off x="640080" y="3350000"/>
            <a:ext cx="520000" cy="520000"/>
          </a:xfrm>
          <a:prstGeom prst="ellipse">
            <a:avLst/>
          </a:prstGeom>
          <a:solidFill>
            <a:srgbClr val="E29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8" name="Takeaway 2"/>
          <p:cNvSpPr txBox="1"/>
          <p:nvPr/>
        </p:nvSpPr>
        <p:spPr>
          <a:xfrm>
            <a:off x="1340080" y="3350000"/>
            <a:ext cx="10208792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attack targets one or more goals of the CIA triad.</a:t>
            </a:r>
          </a:p>
        </p:txBody>
      </p:sp>
      <p:sp>
        <p:nvSpPr>
          <p:cNvPr id="9" name="Number 3 text"/>
          <p:cNvSpPr/>
          <p:nvPr/>
        </p:nvSpPr>
        <p:spPr>
          <a:xfrm>
            <a:off x="640080" y="4100000"/>
            <a:ext cx="520000" cy="520000"/>
          </a:xfrm>
          <a:prstGeom prst="ellipse">
            <a:avLst/>
          </a:prstGeom>
          <a:solidFill>
            <a:srgbClr val="E29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 i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" name="Takeaway 3"/>
          <p:cNvSpPr txBox="1"/>
          <p:nvPr/>
        </p:nvSpPr>
        <p:spPr>
          <a:xfrm>
            <a:off x="1340080" y="4100000"/>
            <a:ext cx="10208792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Layered defense: prevent, detect, respond.</a:t>
            </a:r>
          </a:p>
        </p:txBody>
      </p:sp>
      <p:sp>
        <p:nvSpPr>
          <p:cNvPr id="11" name="Closing"/>
          <p:cNvSpPr txBox="1"/>
          <p:nvPr/>
        </p:nvSpPr>
        <p:spPr>
          <a:xfrm>
            <a:off x="640080" y="5450000"/>
            <a:ext cx="10908792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 i="1">
                <a:solidFill>
                  <a:srgbClr val="E2913C"/>
                </a:solidFill>
                <a:latin typeface="Georgia"/>
                <a:ea typeface="Georgia"/>
                <a:cs typeface="Georgia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1652</Words>
  <Application>Microsoft Office PowerPoint</Application>
  <PresentationFormat>Widescreen</PresentationFormat>
  <Paragraphs>339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Karanam Reddy Vishnu Chaithanya</cp:lastModifiedBy>
  <cp:revision>11</cp:revision>
  <dcterms:created xsi:type="dcterms:W3CDTF">2026-07-30T04:38:11Z</dcterms:created>
  <dcterms:modified xsi:type="dcterms:W3CDTF">2026-08-11T08:20:18Z</dcterms:modified>
</cp:coreProperties>
</file>